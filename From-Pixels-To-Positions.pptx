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Merriweather Light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Inter ExtraBold"/>
      <p:bold r:id="rId37"/>
      <p:boldItalic r:id="rId38"/>
    </p:embeddedFont>
    <p:embeddedFont>
      <p:font typeface="Merriweather"/>
      <p:regular r:id="rId39"/>
      <p:bold r:id="rId40"/>
      <p:italic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.fntdata"/><Relationship Id="rId20" Type="http://schemas.openxmlformats.org/officeDocument/2006/relationships/slide" Target="slides/slide15.xml"/><Relationship Id="rId42" Type="http://schemas.openxmlformats.org/officeDocument/2006/relationships/font" Target="fonts/Merriweather-boldItalic.fntdata"/><Relationship Id="rId41" Type="http://schemas.openxmlformats.org/officeDocument/2006/relationships/font" Target="fonts/Merriweather-italic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Light-italic.fntdata"/><Relationship Id="rId30" Type="http://schemas.openxmlformats.org/officeDocument/2006/relationships/font" Target="fonts/MerriweatherLight-bold.fntdata"/><Relationship Id="rId11" Type="http://schemas.openxmlformats.org/officeDocument/2006/relationships/slide" Target="slides/slide6.xml"/><Relationship Id="rId33" Type="http://schemas.openxmlformats.org/officeDocument/2006/relationships/font" Target="fonts/Inter-regular.fntdata"/><Relationship Id="rId10" Type="http://schemas.openxmlformats.org/officeDocument/2006/relationships/slide" Target="slides/slide5.xml"/><Relationship Id="rId32" Type="http://schemas.openxmlformats.org/officeDocument/2006/relationships/font" Target="fonts/Merriweather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-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schemas.openxmlformats.org/officeDocument/2006/relationships/font" Target="fonts/InterExtraBold-bold.fntdata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39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38" Type="http://schemas.openxmlformats.org/officeDocument/2006/relationships/font" Target="fonts/InterExtra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a3106ffcd_1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a3106ffcd_1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3106ffc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a3106ffc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a3106ffcd_10_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a3106ffcd_1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3106ffcd_41_0)">
  <p:cSld name="Generated (g3fa3106ffcd_41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5.png"/><Relationship Id="rId13" Type="http://schemas.openxmlformats.org/officeDocument/2006/relationships/hyperlink" Target="https://www.kaggle.com/datasets/koryakinp/chess-positions" TargetMode="External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Relationship Id="rId5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151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609600" y="2098327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609600" y="2441227"/>
            <a:ext cx="90011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FROM PIXELS TO POSITIONS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609600" y="3264098"/>
            <a:ext cx="1152144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F9DCDC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Chess FEN Generation via Machine Learning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609600" y="4254698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Mahidas Prabhanjan</a:t>
            </a:r>
            <a:endParaRPr sz="1500"/>
          </a:p>
        </p:txBody>
      </p:sp>
      <p:sp>
        <p:nvSpPr>
          <p:cNvPr id="89" name="Google Shape;89;p14"/>
          <p:cNvSpPr txBox="1"/>
          <p:nvPr/>
        </p:nvSpPr>
        <p:spPr>
          <a:xfrm>
            <a:off x="609600" y="4559498"/>
            <a:ext cx="10972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9DCDC"/>
                </a:solidFill>
                <a:latin typeface="Inter"/>
                <a:ea typeface="Inter"/>
                <a:cs typeface="Inter"/>
                <a:sym typeface="Inter"/>
              </a:rPr>
              <a:t>TECH 27, Summer 2026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609600" y="4947198"/>
            <a:ext cx="1097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9DCDC"/>
                </a:solidFill>
                <a:latin typeface="Inter"/>
                <a:ea typeface="Inter"/>
                <a:cs typeface="Inter"/>
                <a:sym typeface="Inter"/>
              </a:rPr>
              <a:t>Instructor: Ms. Ishaani Priyadarshini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9492150" y="1704775"/>
            <a:ext cx="2622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rnbqkbnr/pppppppp/8/8/8/8/PPPPPPPP/RNBQKBNR</a:t>
            </a:r>
            <a:endParaRPr sz="8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2138" y="1827774"/>
            <a:ext cx="2544025" cy="254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24125"/>
            <a:ext cx="5743575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CHALLENGE OF CHESS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609600" y="990600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Defining the core objective and the unforgiving nature of FEN.</a:t>
            </a:r>
            <a:endParaRPr/>
          </a:p>
        </p:txBody>
      </p:sp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950" y="29813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123950" y="3438525"/>
            <a:ext cx="50106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Core Objective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123950" y="3914775"/>
            <a:ext cx="47720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Accurately translate a raw 2D chessboard image into its standardized Forsyth-Edwards Notation (FEN) state.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810375" y="2340471"/>
            <a:ext cx="50106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Why standard metrics fail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105650" y="2892921"/>
            <a:ext cx="4476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98.4% square accuracy is 0% board accuracy.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153275" y="3761482"/>
            <a:ext cx="4429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One hallucinated pawn ruins the entire game state.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153275" y="4630042"/>
            <a:ext cx="44291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FEN generation requires absolute structural perfection.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2945308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38138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0375" y="468243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EVALUATION CRITERIA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24025"/>
            <a:ext cx="52578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724025"/>
            <a:ext cx="525780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13192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131921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228725" y="1295400"/>
            <a:ext cx="1828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Success Metrics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66800" y="2181225"/>
            <a:ext cx="43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4785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&gt;80%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66800" y="2867025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Exact Board FEN Accuracy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066800" y="3400425"/>
            <a:ext cx="4343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Real-time inference latency suitable for live application.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915150" y="1295400"/>
            <a:ext cx="1733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Failure Triggers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81800" y="2181225"/>
            <a:ext cx="43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B91C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&lt;50%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81800" y="2867025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Exact Board FEN Accuracy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81800" y="3400425"/>
            <a:ext cx="4343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High square accuracy driven entirely by "empty square" bias.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609600" y="457200"/>
            <a:ext cx="115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PIPELINE METHODOLOGY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09600" y="990600"/>
            <a:ext cx="1097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Breaking down full-board complexity into square-level classification.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8531" y="38052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987" y="38052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3443" y="38052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7615" y="30861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5071" y="30861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528" y="30861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99984" y="316706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283434" y="4152900"/>
            <a:ext cx="210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1. Preprocessing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333500" y="4429125"/>
            <a:ext cx="200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Resize raw image to 200x200x3.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3790890" y="4152900"/>
            <a:ext cx="210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2. Grid Slicing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840956" y="4429125"/>
            <a:ext cx="200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Isolate 64 distinct 25x25 squares.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298346" y="4152900"/>
            <a:ext cx="210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3. Model Inference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48412" y="4429125"/>
            <a:ext cx="200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Classify 13 piece types per square.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805802" y="4233862"/>
            <a:ext cx="210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4. Reconstruction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855868" y="4510087"/>
            <a:ext cx="200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Compile sequence back to FEN.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82415" y="33909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08921" y="339090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59228" y="33909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23834" y="347186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210925" y="5253925"/>
            <a:ext cx="126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For Basic Models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4742225" y="4810550"/>
            <a:ext cx="200100" cy="385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17"/>
          <p:cNvGrpSpPr/>
          <p:nvPr/>
        </p:nvGrpSpPr>
        <p:grpSpPr>
          <a:xfrm>
            <a:off x="609600" y="1859550"/>
            <a:ext cx="7620000" cy="285900"/>
            <a:chOff x="0" y="0"/>
            <a:chExt cx="7620000" cy="2859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8C15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r>
                <a:rPr b="1" lang="en-US" sz="15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DataSet Source: </a:t>
              </a:r>
              <a:r>
                <a:rPr b="0" lang="en-US" sz="1500" u="sng">
                  <a:solidFill>
                    <a:schemeClr val="hlink"/>
                  </a:solidFill>
                  <a:latin typeface="Inter Medium"/>
                  <a:ea typeface="Inter Medium"/>
                  <a:cs typeface="Inter Medium"/>
                  <a:sym typeface="Inter Medium"/>
                  <a:hlinkClick r:id="rId13"/>
                </a:rPr>
                <a:t>https://www.kaggle.com/datasets/koryakinp/chess-positions</a:t>
              </a:r>
              <a:endParaRPr sz="15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ENGINEERING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852737"/>
            <a:ext cx="35052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852737"/>
            <a:ext cx="35052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7200" y="2852737"/>
            <a:ext cx="35052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914400" y="31575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C1515"/>
                </a:solidFill>
                <a:latin typeface="Inter"/>
                <a:ea typeface="Inter"/>
                <a:cs typeface="Inter"/>
                <a:sym typeface="Inter"/>
              </a:rPr>
              <a:t>Resampling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14400" y="3586162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Lanczos algorithm compresses raw images to a standardized 200x200 canvas.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648200" y="31575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C1515"/>
                </a:solidFill>
                <a:latin typeface="Inter"/>
                <a:ea typeface="Inter"/>
                <a:cs typeface="Inter"/>
                <a:sym typeface="Inter"/>
              </a:rPr>
              <a:t>Target Parsing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648200" y="3586162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Python scripts expand alphanumeric FEN strings into 13 distinct integer classes.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382000" y="3157537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C1515"/>
                </a:solidFill>
                <a:latin typeface="Inter"/>
                <a:ea typeface="Inter"/>
                <a:cs typeface="Inter"/>
                <a:sym typeface="Inter"/>
              </a:rPr>
              <a:t>Grid Slicing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382000" y="3586162"/>
            <a:ext cx="28956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Mathematical cropping yields 64 isolated 25x25x3 training squares per board.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1275" y="1438275"/>
            <a:ext cx="5191125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ENSURING MODEL INTEGRITY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09600" y="990600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Handling statistical bias and preventing data leakage.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09600" y="4057650"/>
            <a:ext cx="5172075" cy="95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09600" y="2419350"/>
            <a:ext cx="54306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Class Balancing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09600" y="2895600"/>
            <a:ext cx="51720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Maximum 32 squares occupied. Strict random sampling forces equal piece-to-empty ratios to prevent baseline guessing.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09600" y="4371975"/>
            <a:ext cx="54306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Inference Vault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09600" y="4848225"/>
            <a:ext cx="5172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Unused full-board images mathematically quarantined to prevent evaluation leakage.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2037" y="31051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6591538" y="3943350"/>
            <a:ext cx="47905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 Isolation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705600" y="4333875"/>
            <a:ext cx="4562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Training squares strictly segregated from full-board test pools.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929062"/>
            <a:ext cx="109728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609600" y="457200"/>
            <a:ext cx="115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SCALE &amp; METRICS :: Basic Models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52500" y="4233862"/>
            <a:ext cx="1032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Tracked Evaluations: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52500" y="4576762"/>
            <a:ext cx="1032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Exact Board FEN Accuracy  •  Per-Class F1-Score  •  Inference Latency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09600" y="2319337"/>
            <a:ext cx="1847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80K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09600" y="3119437"/>
            <a:ext cx="1847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TRAINING SQUARES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295900" y="2319337"/>
            <a:ext cx="1762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20K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295900" y="3119437"/>
            <a:ext cx="1762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TESTING SQUARES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896475" y="2319337"/>
            <a:ext cx="1685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200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896475" y="3119437"/>
            <a:ext cx="1685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PRISTINE BOARDS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TRADITIONAL ML BASELINE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09600" y="990600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1,875 flattened features extracted from 25x25x3 RGB squares.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2562225" y="2548086"/>
            <a:ext cx="73437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Logistic Regression: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200 max iterations.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2562225" y="3096666"/>
            <a:ext cx="73437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k-Nearest Neighbors: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Optimized at k=5.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2562225" y="3645247"/>
            <a:ext cx="73437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Random Forest: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100 deep estimators.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2562225" y="4193827"/>
            <a:ext cx="73437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Support Vector Machine: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Non-linear RBF kernel.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2562225" y="4742408"/>
            <a:ext cx="73437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Histogram Gradient Boosting: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Scale-optimized for &gt;10K data.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600473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14905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69763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424621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479479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8350" y="2517576"/>
            <a:ext cx="5734050" cy="2508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LATENCY TRADE-OFF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5350" y="2993826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609600" y="2786062"/>
            <a:ext cx="502062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Synthetic Success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09600" y="3386137"/>
            <a:ext cx="47815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All 5 baseline models achieved near 100% accuracy exclusively because the synthetic data lacked shadows, noise, and angle distortion.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385208" y="3679626"/>
            <a:ext cx="26603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Massive Inference Lag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324600" y="4070151"/>
            <a:ext cx="47815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k-NN and SVM required up to 689 seconds to predict the test set, failing real-time latency requirements.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Moving to the Neural Networks ….</a:t>
            </a:r>
            <a:endParaRPr b="0" sz="3000">
              <a:solidFill>
                <a:srgbClr val="8C1515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32" name="Google Shape;232;p23"/>
          <p:cNvGrpSpPr/>
          <p:nvPr/>
        </p:nvGrpSpPr>
        <p:grpSpPr>
          <a:xfrm>
            <a:off x="609600" y="2286000"/>
            <a:ext cx="3238500" cy="3276600"/>
            <a:chOff x="0" y="0"/>
            <a:chExt cx="3238500" cy="3276600"/>
          </a:xfrm>
        </p:grpSpPr>
        <p:sp>
          <p:nvSpPr>
            <p:cNvPr id="233" name="Google Shape;233;p23"/>
            <p:cNvSpPr/>
            <p:nvPr/>
          </p:nvSpPr>
          <p:spPr>
            <a:xfrm>
              <a:off x="0" y="0"/>
              <a:ext cx="3238500" cy="38100"/>
            </a:xfrm>
            <a:prstGeom prst="rect">
              <a:avLst/>
            </a:prstGeom>
            <a:solidFill>
              <a:srgbClr val="8C151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3"/>
            <p:cNvSpPr txBox="1"/>
            <p:nvPr/>
          </p:nvSpPr>
          <p:spPr>
            <a:xfrm>
              <a:off x="0" y="228600"/>
              <a:ext cx="3238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Neural Networks</a:t>
              </a:r>
              <a:endParaRPr b="1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Three distinct model architectures were evaluated to find the optimal trade-off:</a:t>
              </a:r>
              <a:endParaRPr b="0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Multilayer Perceptron (MLP)</a:t>
              </a:r>
              <a:endParaRPr b="0" sz="14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Convolutional Network (CNN)</a:t>
              </a:r>
              <a:endParaRPr b="0" sz="14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Advanced CNN (Adv CNN)</a:t>
              </a:r>
              <a:endParaRPr b="0" sz="14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35" name="Google Shape;235;p23"/>
          <p:cNvGrpSpPr/>
          <p:nvPr/>
        </p:nvGrpSpPr>
        <p:grpSpPr>
          <a:xfrm>
            <a:off x="4476750" y="2286000"/>
            <a:ext cx="3238500" cy="3276600"/>
            <a:chOff x="0" y="0"/>
            <a:chExt cx="3238500" cy="3276600"/>
          </a:xfrm>
        </p:grpSpPr>
        <p:sp>
          <p:nvSpPr>
            <p:cNvPr id="236" name="Google Shape;236;p23"/>
            <p:cNvSpPr/>
            <p:nvPr/>
          </p:nvSpPr>
          <p:spPr>
            <a:xfrm>
              <a:off x="0" y="0"/>
              <a:ext cx="3238500" cy="381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3"/>
            <p:cNvSpPr txBox="1"/>
            <p:nvPr/>
          </p:nvSpPr>
          <p:spPr>
            <a:xfrm>
              <a:off x="0" y="228600"/>
              <a:ext cx="3238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Dataset Split</a:t>
              </a:r>
              <a:endParaRPr b="1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Structured partitions ensuring balanced training and rigorous evaluation:</a:t>
              </a:r>
              <a:endParaRPr b="0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80K Training Samples</a:t>
              </a:r>
              <a:endParaRPr b="0" sz="14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20K Testing Samples</a:t>
              </a:r>
              <a:endParaRPr b="0" sz="14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200x20x3 Resolution</a:t>
              </a:r>
              <a:endParaRPr b="0" sz="14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38" name="Google Shape;238;p23"/>
          <p:cNvGrpSpPr/>
          <p:nvPr/>
        </p:nvGrpSpPr>
        <p:grpSpPr>
          <a:xfrm>
            <a:off x="8343900" y="2286000"/>
            <a:ext cx="3238500" cy="3276600"/>
            <a:chOff x="0" y="0"/>
            <a:chExt cx="3238500" cy="3276600"/>
          </a:xfrm>
        </p:grpSpPr>
        <p:sp>
          <p:nvSpPr>
            <p:cNvPr id="239" name="Google Shape;239;p23"/>
            <p:cNvSpPr/>
            <p:nvPr/>
          </p:nvSpPr>
          <p:spPr>
            <a:xfrm>
              <a:off x="0" y="0"/>
              <a:ext cx="3238500" cy="38100"/>
            </a:xfrm>
            <a:prstGeom prst="rect">
              <a:avLst/>
            </a:prstGeom>
            <a:solidFill>
              <a:srgbClr val="D32F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3"/>
            <p:cNvSpPr txBox="1"/>
            <p:nvPr/>
          </p:nvSpPr>
          <p:spPr>
            <a:xfrm>
              <a:off x="0" y="228600"/>
              <a:ext cx="3238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Inference &amp; Validation</a:t>
              </a:r>
              <a:endParaRPr b="1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555555"/>
                  </a:solidFill>
                  <a:latin typeface="Inter"/>
                  <a:ea typeface="Inter"/>
                  <a:cs typeface="Inter"/>
                  <a:sym typeface="Inter"/>
                </a:rPr>
                <a:t>Tested against real-world, out-of-distribution environments:</a:t>
              </a:r>
              <a:endParaRPr b="0" sz="14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Additionally, a </a:t>
              </a:r>
              <a:r>
                <a:rPr lang="en-US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few</a:t>
              </a: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external images sourced from the Internet was used to perform </a:t>
              </a:r>
              <a:r>
                <a:rPr lang="en-US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sampling</a:t>
              </a:r>
              <a:r>
                <a:rPr b="0" lang="en-US" sz="1400">
                  <a:solidFill>
                    <a:srgbClr val="33333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inferencing.</a:t>
              </a:r>
              <a:endParaRPr b="0" sz="14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41" name="Google Shape;241;p23"/>
          <p:cNvSpPr txBox="1"/>
          <p:nvPr/>
        </p:nvSpPr>
        <p:spPr>
          <a:xfrm>
            <a:off x="9750225" y="4344675"/>
            <a:ext cx="247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/>
        </p:nvSpPr>
        <p:spPr>
          <a:xfrm>
            <a:off x="609600" y="457200"/>
            <a:ext cx="115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MLP</a:t>
            </a:r>
            <a:r>
              <a:rPr lang="en-US" sz="3000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’s</a:t>
            </a: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n-US" sz="3000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CEILING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09600" y="990600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120K Flat Features → Dense(512, 256, 128) → Softmax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3720350" y="2398050"/>
            <a:ext cx="4392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00" u="none" cap="none" strike="noStrike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63.6%</a:t>
            </a:r>
            <a:endParaRPr sz="100"/>
          </a:p>
        </p:txBody>
      </p:sp>
      <p:sp>
        <p:nvSpPr>
          <p:cNvPr id="249" name="Google Shape;249;p24"/>
          <p:cNvSpPr txBox="1"/>
          <p:nvPr/>
        </p:nvSpPr>
        <p:spPr>
          <a:xfrm>
            <a:off x="3952875" y="3686175"/>
            <a:ext cx="4286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C151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MAXIMUM TEST ACCURACY STALLED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286000" y="4105825"/>
            <a:ext cx="76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Flattening spatial data destroyed structural context. The neural network minimized loss by blindly guessing "empty" (74.8% accuracy on blanks, ~0% on pieces).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BASE CONVOLUTIONAL NETWORK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852737"/>
            <a:ext cx="35052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852737"/>
            <a:ext cx="35052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7200" y="2852737"/>
            <a:ext cx="3505200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762000" y="3195637"/>
            <a:ext cx="33604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762000" y="3586162"/>
            <a:ext cx="3200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3 Convolutional blocks (32, 64, 128) coupled with Max Pooling.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4495800" y="3195637"/>
            <a:ext cx="33604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Result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495800" y="3586162"/>
            <a:ext cx="3200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Accuracy immediately jumped to ~99% by preserving 2D geometry.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229600" y="3195637"/>
            <a:ext cx="33604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Constraint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8229600" y="3586162"/>
            <a:ext cx="3200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Minor F1 bleed between structurally similar pieces (Kings and Queens).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1515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633662"/>
            <a:ext cx="563880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ADVANCED CNN OPTIMIZATION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609600" y="2747962"/>
            <a:ext cx="496062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Architecture Scaling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391400" y="3090862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99.99%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4762" y="3929062"/>
            <a:ext cx="2276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Exact Board Accuracy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6929437" y="4252912"/>
            <a:ext cx="3667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Near-perfect F1-scores across all 13 classes.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914400" y="3348037"/>
            <a:ext cx="441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4th Conv Block (256 filters)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914400" y="3748087"/>
            <a:ext cx="441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Expanded Dense Logic (1024 nodes)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914400" y="4148137"/>
            <a:ext cx="441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Aggressive Dropout (0.4)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914400" y="4548187"/>
            <a:ext cx="441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Dynamic Learning Rate Decay</a:t>
            </a:r>
            <a:endParaRPr/>
          </a:p>
        </p:txBody>
      </p:sp>
      <p:pic>
        <p:nvPicPr>
          <p:cNvPr descr="image.png" id="279" name="Google Shape;2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362325"/>
            <a:ext cx="190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762375"/>
            <a:ext cx="190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162425"/>
            <a:ext cx="190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562475"/>
            <a:ext cx="1905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COMPUTER VISION PIPELINE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609600" y="990600"/>
            <a:ext cx="10972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55555"/>
                </a:solidFill>
                <a:latin typeface="Merriweather"/>
                <a:ea typeface="Merriweather"/>
                <a:cs typeface="Merriweather"/>
                <a:sym typeface="Merriweather"/>
              </a:rPr>
              <a:t>Bridging real-world photos to rigid CNN inputs.</a:t>
            </a:r>
            <a:endParaRPr/>
          </a:p>
        </p:txBody>
      </p:sp>
      <p:pic>
        <p:nvPicPr>
          <p:cNvPr descr="image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071812"/>
            <a:ext cx="34544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8849" y="3071812"/>
            <a:ext cx="34544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3071812"/>
            <a:ext cx="3454449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923925" y="3386137"/>
            <a:ext cx="29670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C1515"/>
                </a:solidFill>
                <a:latin typeface="Inter"/>
                <a:ea typeface="Inter"/>
                <a:cs typeface="Inter"/>
                <a:sym typeface="Inter"/>
              </a:rPr>
              <a:t>1. OpenCV Processing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923925" y="3767137"/>
            <a:ext cx="28257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Grayscale conversion, Gaussian Blur, and Canny Edge Detection locate the outer boundary.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4683174" y="3386137"/>
            <a:ext cx="29670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C1515"/>
                </a:solidFill>
                <a:latin typeface="Inter"/>
                <a:ea typeface="Inter"/>
                <a:cs typeface="Inter"/>
                <a:sym typeface="Inter"/>
              </a:rPr>
              <a:t>2. Perspective Warp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4683174" y="3767137"/>
            <a:ext cx="28257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Mathematical flattening transforms angled photos into strict top-down matrices.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8442424" y="3386137"/>
            <a:ext cx="296708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C1515"/>
                </a:solidFill>
                <a:latin typeface="Inter"/>
                <a:ea typeface="Inter"/>
                <a:cs typeface="Inter"/>
                <a:sym typeface="Inter"/>
              </a:rPr>
              <a:t>3. Dynamic Cropping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8442424" y="3767137"/>
            <a:ext cx="2825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Fallback logic shaves 4% margins to bypass disruptive coordinate borders.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CHALLENGES &amp; SOLUTIONS</a:t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609600" y="1533525"/>
            <a:ext cx="5257800" cy="1905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6324600" y="1533525"/>
            <a:ext cx="5257800" cy="1905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609600" y="1143000"/>
            <a:ext cx="55206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CV Trap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609600" y="1704975"/>
            <a:ext cx="5257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Issue:</a:t>
            </a:r>
            <a:r>
              <a:rPr b="0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OpenCV contour logic latched onto single internal squares.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609600" y="2428875"/>
            <a:ext cx="5257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Area thresholding forced OpenCV to reject polygons under 40% image footprint.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6324600" y="1143000"/>
            <a:ext cx="55206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Grid Misalignment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6324600" y="1704975"/>
            <a:ext cx="5257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Issue:</a:t>
            </a:r>
            <a:r>
              <a:rPr b="0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Coordinate borders pushed physical squares inward, misaligning CNN receptive fields.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6324600" y="2428875"/>
            <a:ext cx="5257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5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Dynamic fallback cropper shaves precise margins before resampling.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/>
        </p:nvSpPr>
        <p:spPr>
          <a:xfrm>
            <a:off x="609600" y="45720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C15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ETHICS &amp; LIMITATIONS</a:t>
            </a:r>
            <a:endParaRPr/>
          </a:p>
        </p:txBody>
      </p:sp>
      <p:pic>
        <p:nvPicPr>
          <p:cNvPr descr="image.png"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92883"/>
            <a:ext cx="3505200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592883"/>
            <a:ext cx="3505200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7200" y="2592883"/>
            <a:ext cx="3505200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29072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75" y="2907208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91675" y="2907208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/>
        </p:nvSpPr>
        <p:spPr>
          <a:xfrm>
            <a:off x="852011" y="3516808"/>
            <a:ext cx="30203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Training Bias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923925" y="3916858"/>
            <a:ext cx="28767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Struggles generalizing to 3D physical boards with wood textures and lighting variants.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4585811" y="3516808"/>
            <a:ext cx="30203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Visual Constraints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4657725" y="3916858"/>
            <a:ext cx="28765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Requires full visibility. Model fails against heavily occluded states.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8319611" y="3350558"/>
            <a:ext cx="3020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Ethical Exposure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8463300" y="3667008"/>
            <a:ext cx="28767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Automated extraction facilitates direct integration with cheating engines online</a:t>
            </a:r>
            <a:r>
              <a:rPr lang="en-US" sz="13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. But IMO, benefits outweigh cheating considerations!!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/>
          <p:nvPr/>
        </p:nvSpPr>
        <p:spPr>
          <a:xfrm>
            <a:off x="2587778" y="335171"/>
            <a:ext cx="715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Fantastic Exposure!!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2353175" y="1420345"/>
            <a:ext cx="76200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ML Discipline is not just Model Training!</a:t>
            </a:r>
            <a:endParaRPr sz="1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Data Engineering can be more complex/challenging in some cases such as the FEN Prediction on a </a:t>
            </a:r>
            <a:r>
              <a:rPr lang="en-US" sz="1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Chessboard</a:t>
            </a:r>
            <a:endParaRPr sz="1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Merely Looking at Accuracy can Fool you! </a:t>
            </a:r>
            <a:endParaRPr sz="1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Gradually leveling up from basic Models to Advanced ones demonstrate Training Complexity v/s Usefulness, and many other  Tradeoffs!</a:t>
            </a:r>
            <a:endParaRPr sz="1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GPU Acceleration and UMA on Mac M5 Pro MAX made it 6 Times Faster!!  GPU Acceleration is REAL!! :-) </a:t>
            </a:r>
            <a:endParaRPr sz="1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A3A3"/>
              </a:buClr>
              <a:buSzPts val="1800"/>
              <a:buFont typeface="Inter"/>
              <a:buChar char="●"/>
            </a:pPr>
            <a:r>
              <a:rPr lang="en-US" sz="1800">
                <a:solidFill>
                  <a:srgbClr val="A3A3A3"/>
                </a:solidFill>
                <a:latin typeface="Inter"/>
                <a:ea typeface="Inter"/>
                <a:cs typeface="Inter"/>
                <a:sym typeface="Inter"/>
              </a:rPr>
              <a:t>Memory Hungry: My Mac M5 Pro MAX w/ 128GB  was NOT Sufficient!!  MAX Memory Usage Shot up to 150GB for CNNs!!</a:t>
            </a:r>
            <a:endParaRPr sz="1800">
              <a:solidFill>
                <a:srgbClr val="A3A3A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1125" y="1479407"/>
            <a:ext cx="8572500" cy="128944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2101125" y="2008632"/>
            <a:ext cx="426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C1515"/>
                </a:solidFill>
                <a:latin typeface="Inter"/>
                <a:ea typeface="Inter"/>
                <a:cs typeface="Inter"/>
                <a:sym typeface="Inter"/>
              </a:rPr>
              <a:t>Next Step: Augmentation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2101125" y="2289032"/>
            <a:ext cx="4057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Introduce rotation, noise, and synthetic shadows to generalize to 3D physical play.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6615975" y="1946132"/>
            <a:ext cx="426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Next Step: Edge Deployment</a:t>
            </a:r>
            <a:endParaRPr>
              <a:solidFill>
                <a:srgbClr val="6D9EEB"/>
              </a:solidFill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6615975" y="2239632"/>
            <a:ext cx="4057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Optimize model weights (TensorFlow Lite) for real-time mobile app inference.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2717778" y="106596"/>
            <a:ext cx="715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Next Steps….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2101125" y="3113532"/>
            <a:ext cx="426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Next Step: </a:t>
            </a:r>
            <a:r>
              <a:rPr b="1" lang="en-US" sz="15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Memory Optimization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2101125" y="3429007"/>
            <a:ext cx="4057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Mac M5 Pro MAX with 128GB NOT Enough! Tuning batch_sizing; more gc.collect()</a:t>
            </a:r>
            <a:endParaRPr sz="135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6615975" y="3113532"/>
            <a:ext cx="426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C232"/>
                </a:solidFill>
                <a:latin typeface="Inter"/>
                <a:ea typeface="Inter"/>
                <a:cs typeface="Inter"/>
                <a:sym typeface="Inter"/>
              </a:rPr>
              <a:t>Next Step: </a:t>
            </a:r>
            <a:r>
              <a:rPr b="1" lang="en-US" sz="1500">
                <a:solidFill>
                  <a:srgbClr val="F1C232"/>
                </a:solidFill>
                <a:latin typeface="Inter"/>
                <a:ea typeface="Inter"/>
                <a:cs typeface="Inter"/>
                <a:sym typeface="Inter"/>
              </a:rPr>
              <a:t>Solve Inferencing Challenges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6653025" y="3370150"/>
            <a:ext cx="41865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How to detect and remove borders &amp; other ‘Noise’ from the images before Inferencing</a:t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2101125" y="4218425"/>
            <a:ext cx="338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Next Step: Improve </a:t>
            </a:r>
            <a:r>
              <a:rPr b="1" lang="en-US" sz="15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Model Efficiency for Real-world Inferencing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2101125" y="4768507"/>
            <a:ext cx="4057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Feeding a real-world Chessboard image, Adv-CNN model still misses few Pieces!</a:t>
            </a:r>
            <a:endParaRPr sz="1350">
              <a:solidFill>
                <a:srgbClr val="D4D4D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6615975" y="4280932"/>
            <a:ext cx="426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FFF"/>
                </a:solidFill>
                <a:latin typeface="Inter"/>
                <a:ea typeface="Inter"/>
                <a:cs typeface="Inter"/>
                <a:sym typeface="Inter"/>
              </a:rPr>
              <a:t>Next Step: </a:t>
            </a:r>
            <a:r>
              <a:rPr b="1" lang="en-US" sz="1500">
                <a:solidFill>
                  <a:srgbClr val="00FFFF"/>
                </a:solidFill>
                <a:latin typeface="Inter"/>
                <a:ea typeface="Inter"/>
                <a:cs typeface="Inter"/>
                <a:sym typeface="Inter"/>
              </a:rPr>
              <a:t>FEN To Image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6653025" y="4560600"/>
            <a:ext cx="3000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4D4D4"/>
                </a:solidFill>
                <a:latin typeface="Inter"/>
                <a:ea typeface="Inter"/>
                <a:cs typeface="Inter"/>
                <a:sym typeface="Inter"/>
              </a:rPr>
              <a:t>Reverse:  FEN To Chessboard Image Generation!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32"/>
          <p:cNvGrpSpPr/>
          <p:nvPr/>
        </p:nvGrpSpPr>
        <p:grpSpPr>
          <a:xfrm>
            <a:off x="1333500" y="762000"/>
            <a:ext cx="9525000" cy="5334000"/>
            <a:chOff x="1333500" y="762000"/>
            <a:chExt cx="9525000" cy="5334000"/>
          </a:xfrm>
        </p:grpSpPr>
        <p:sp>
          <p:nvSpPr>
            <p:cNvPr id="357" name="Google Shape;357;p32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26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8" name="Google Shape;35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81475" y="1514475"/>
              <a:ext cx="3829200" cy="382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2"/>
            <p:cNvSpPr txBox="1"/>
            <p:nvPr/>
          </p:nvSpPr>
          <p:spPr>
            <a:xfrm>
              <a:off x="1333500" y="19050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4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THANK YOU</a:t>
              </a:r>
              <a:endParaRPr b="0" sz="54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60" name="Google Shape;360;p32"/>
            <p:cNvSpPr txBox="1"/>
            <p:nvPr/>
          </p:nvSpPr>
          <p:spPr>
            <a:xfrm>
              <a:off x="1333500" y="3238500"/>
              <a:ext cx="95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47857"/>
                  </a:solidFill>
                  <a:latin typeface="Inter"/>
                  <a:ea typeface="Inter"/>
                  <a:cs typeface="Inter"/>
                  <a:sym typeface="Inter"/>
                </a:rPr>
                <a:t>From Pixels to Positions: Chessboard State Reconstruction</a:t>
              </a:r>
              <a:endParaRPr b="1" sz="2000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61" name="Google Shape;361;p32"/>
            <p:cNvCxnSpPr/>
            <p:nvPr/>
          </p:nvCxnSpPr>
          <p:spPr>
            <a:xfrm>
              <a:off x="5619750" y="4191000"/>
              <a:ext cx="952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C151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